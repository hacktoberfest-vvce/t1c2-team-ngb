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919542a2214c24" /><Relationship Type="http://schemas.openxmlformats.org/officeDocument/2006/relationships/extended-properties" Target="/docProps/app.xml" Id="R039ea0ea8c4c4591" /><Relationship Type="http://schemas.openxmlformats.org/officeDocument/2006/relationships/officeDocument" Target="/ppt/presentation.xml" Id="R744b47a5f5eb44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699e37a3d74b87"/>
  </p:sldMasterIdLst>
  <p:notesMasterIdLst>
    <p:notesMasterId xmlns:r="http://schemas.openxmlformats.org/officeDocument/2006/relationships" r:id="Re5e78af1f6f74fb9"/>
  </p:notesMasterIdLst>
  <p:sldIdLst>
    <p:sldId xmlns:r="http://schemas.openxmlformats.org/officeDocument/2006/relationships" id="256" r:id="Re4ae32a8d11148bd"/>
    <p:sldId xmlns:r="http://schemas.openxmlformats.org/officeDocument/2006/relationships" id="257" r:id="Re491202e43f54bc0"/>
    <p:sldId xmlns:r="http://schemas.openxmlformats.org/officeDocument/2006/relationships" id="258" r:id="Rc5e5d7c45b47488f"/>
    <p:sldId xmlns:r="http://schemas.openxmlformats.org/officeDocument/2006/relationships" id="259" r:id="R1cffc4fb12be40dc"/>
    <p:sldId xmlns:r="http://schemas.openxmlformats.org/officeDocument/2006/relationships" id="260" r:id="Reafd99baf7e2440a"/>
    <p:sldId xmlns:r="http://schemas.openxmlformats.org/officeDocument/2006/relationships" id="261" r:id="Rea7f510d312f4760"/>
    <p:sldId xmlns:r="http://schemas.openxmlformats.org/officeDocument/2006/relationships" id="262" r:id="R3eadd79bc51c471a"/>
    <p:sldId xmlns:r="http://schemas.openxmlformats.org/officeDocument/2006/relationships" id="263" r:id="Rb5f9f001d4de4e7a"/>
    <p:sldId xmlns:r="http://schemas.openxmlformats.org/officeDocument/2006/relationships" id="264" r:id="Ra871bd8a94764896"/>
    <p:sldId xmlns:r="http://schemas.openxmlformats.org/officeDocument/2006/relationships" id="265" r:id="R864cc6d585954894"/>
    <p:sldId xmlns:r="http://schemas.openxmlformats.org/officeDocument/2006/relationships" id="266" r:id="R588b75c8383e49f3"/>
    <p:sldId xmlns:r="http://schemas.openxmlformats.org/officeDocument/2006/relationships" id="267" r:id="R91cad626f35e45cc"/>
    <p:sldId xmlns:r="http://schemas.openxmlformats.org/officeDocument/2006/relationships" id="268" r:id="Rf2c1b2ab2f53434a"/>
    <p:sldId xmlns:r="http://schemas.openxmlformats.org/officeDocument/2006/relationships" id="269" r:id="Rfb7347f5ae324e31"/>
    <p:sldId xmlns:r="http://schemas.openxmlformats.org/officeDocument/2006/relationships" id="270" r:id="Rcf03ad752ebf48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9d5a14dcda4737" /><Relationship Type="http://schemas.openxmlformats.org/officeDocument/2006/relationships/slideMaster" Target="/ppt/slideMasters/slideMaster1.xml" Id="R84699e37a3d74b87" /><Relationship Type="http://schemas.openxmlformats.org/officeDocument/2006/relationships/notesMaster" Target="/ppt/notesMasters/notesMaster1.xml" Id="Re5e78af1f6f74fb9" /><Relationship Type="http://schemas.openxmlformats.org/officeDocument/2006/relationships/presProps" Target="/ppt/presProps.xml" Id="R0ba694013bb94f80" /><Relationship Type="http://schemas.openxmlformats.org/officeDocument/2006/relationships/tableStyles" Target="/ppt/tableStyles.xml" Id="Rdf196484538a43ab" /><Relationship Type="http://schemas.openxmlformats.org/officeDocument/2006/relationships/slide" Target="/ppt/slides/slide1.xml" Id="Re4ae32a8d11148bd" /><Relationship Type="http://schemas.openxmlformats.org/officeDocument/2006/relationships/slide" Target="/ppt/slides/slide2.xml" Id="Re491202e43f54bc0" /><Relationship Type="http://schemas.openxmlformats.org/officeDocument/2006/relationships/slide" Target="/ppt/slides/slide3.xml" Id="Rc5e5d7c45b47488f" /><Relationship Type="http://schemas.openxmlformats.org/officeDocument/2006/relationships/slide" Target="/ppt/slides/slide4.xml" Id="R1cffc4fb12be40dc" /><Relationship Type="http://schemas.openxmlformats.org/officeDocument/2006/relationships/slide" Target="/ppt/slides/slide5.xml" Id="Reafd99baf7e2440a" /><Relationship Type="http://schemas.openxmlformats.org/officeDocument/2006/relationships/slide" Target="/ppt/slides/slide6.xml" Id="Rea7f510d312f4760" /><Relationship Type="http://schemas.openxmlformats.org/officeDocument/2006/relationships/slide" Target="/ppt/slides/slide7.xml" Id="R3eadd79bc51c471a" /><Relationship Type="http://schemas.openxmlformats.org/officeDocument/2006/relationships/slide" Target="/ppt/slides/slide8.xml" Id="Rb5f9f001d4de4e7a" /><Relationship Type="http://schemas.openxmlformats.org/officeDocument/2006/relationships/slide" Target="/ppt/slides/slide9.xml" Id="Ra871bd8a94764896" /><Relationship Type="http://schemas.openxmlformats.org/officeDocument/2006/relationships/slide" Target="/ppt/slides/slide10.xml" Id="R864cc6d585954894" /><Relationship Type="http://schemas.openxmlformats.org/officeDocument/2006/relationships/slide" Target="/ppt/slides/slide11.xml" Id="R588b75c8383e49f3" /><Relationship Type="http://schemas.openxmlformats.org/officeDocument/2006/relationships/slide" Target="/ppt/slides/slide12.xml" Id="R91cad626f35e45cc" /><Relationship Type="http://schemas.openxmlformats.org/officeDocument/2006/relationships/slide" Target="/ppt/slides/slide13.xml" Id="Rf2c1b2ab2f53434a" /><Relationship Type="http://schemas.openxmlformats.org/officeDocument/2006/relationships/slide" Target="/ppt/slides/slide14.xml" Id="Rfb7347f5ae324e31" /><Relationship Type="http://schemas.openxmlformats.org/officeDocument/2006/relationships/slide" Target="/ppt/slides/slide15.xml" Id="Rcf03ad752ebf48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e37bfda07e42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ThreatLens Halloween">
      <a:dk1>
        <a:srgbClr val="000000"/>
      </a:dk1>
      <a:lt1>
        <a:srgbClr val="FFFFFF"/>
      </a:lt1>
      <a:dk2>
        <a:srgbClr val="111622"/>
      </a:dk2>
      <a:lt2>
        <a:srgbClr val="E7E6E3"/>
      </a:lt2>
      <a:accent1>
        <a:srgbClr val="FF9A3D"/>
      </a:accent1>
      <a:accent2>
        <a:srgbClr val="9A82FF"/>
      </a:accent2>
      <a:accent3>
        <a:srgbClr val="44D19F"/>
      </a:accent3>
      <a:accent4>
        <a:srgbClr val="FF7979"/>
      </a:accent4>
      <a:accent5>
        <a:srgbClr val="FFD477"/>
      </a:accent5>
      <a:accent6>
        <a:srgbClr val="54B5E5"/>
      </a:accent6>
      <a:hlink>
        <a:srgbClr val="85B9FF"/>
      </a:hlink>
      <a:folHlink>
        <a:srgbClr val="9A82FF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ThreatLens Hallowee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d72b70002f4074" /><Relationship Type="http://schemas.openxmlformats.org/officeDocument/2006/relationships/notesMaster" Target="/ppt/notesMasters/notesMaster1.xml" Id="R295e81a0eebb47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77c67c00e84435" /><Relationship Type="http://schemas.openxmlformats.org/officeDocument/2006/relationships/notesMaster" Target="/ppt/notesMasters/notesMaster1.xml" Id="Rff49e2126db845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6d7f813da2453b" /><Relationship Type="http://schemas.openxmlformats.org/officeDocument/2006/relationships/notesMaster" Target="/ppt/notesMasters/notesMaster1.xml" Id="Rfb8344f2e92541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f8d87610494cee" /><Relationship Type="http://schemas.openxmlformats.org/officeDocument/2006/relationships/notesMaster" Target="/ppt/notesMasters/notesMaster1.xml" Id="R6284af5c5c8f49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dfccb48e7e4cc0" /><Relationship Type="http://schemas.openxmlformats.org/officeDocument/2006/relationships/notesMaster" Target="/ppt/notesMasters/notesMaster1.xml" Id="R6a28e4ace4734c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4a9eae95e643f6" /><Relationship Type="http://schemas.openxmlformats.org/officeDocument/2006/relationships/notesMaster" Target="/ppt/notesMasters/notesMaster1.xml" Id="R29809c2929f641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d0fab54bbb4503" /><Relationship Type="http://schemas.openxmlformats.org/officeDocument/2006/relationships/notesMaster" Target="/ppt/notesMasters/notesMaster1.xml" Id="R143a1c8862964d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d2d18bb0754c27" /><Relationship Type="http://schemas.openxmlformats.org/officeDocument/2006/relationships/notesMaster" Target="/ppt/notesMasters/notesMaster1.xml" Id="Rf27abd3be4694b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26bed721fe4256" /><Relationship Type="http://schemas.openxmlformats.org/officeDocument/2006/relationships/notesMaster" Target="/ppt/notesMasters/notesMaster1.xml" Id="Rd153987a54264d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a57ac25e3344fe" /><Relationship Type="http://schemas.openxmlformats.org/officeDocument/2006/relationships/notesMaster" Target="/ppt/notesMasters/notesMaster1.xml" Id="R9490d99b3d4741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dfb0e2870a4c82" /><Relationship Type="http://schemas.openxmlformats.org/officeDocument/2006/relationships/notesMaster" Target="/ppt/notesMasters/notesMaster1.xml" Id="Rf10a48539dfb43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ac5bac23514c12" /><Relationship Type="http://schemas.openxmlformats.org/officeDocument/2006/relationships/notesMaster" Target="/ppt/notesMasters/notesMaster1.xml" Id="R075f9cdd580744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3400ee0231465c" /><Relationship Type="http://schemas.openxmlformats.org/officeDocument/2006/relationships/notesMaster" Target="/ppt/notesMasters/notesMaster1.xml" Id="R3eeca992dff243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3c95be7ed546bd" /><Relationship Type="http://schemas.openxmlformats.org/officeDocument/2006/relationships/notesMaster" Target="/ppt/notesMasters/notesMaster1.xml" Id="R7fe1e3a1055e42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cf0c352a774258" /><Relationship Type="http://schemas.openxmlformats.org/officeDocument/2006/relationships/notesMaster" Target="/ppt/notesMasters/notesMaster1.xml" Id="R8cd4edc358dc42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ThreatLens AI as Team NGB’s Hacktober project in the Team Nova ecosystem. Production evidence: README.md, docs/architecture.md, snowflake/setup.md. Live app: https://threatlens-ai-zoro-b535.vercel.app. Dashboard screenshot captured from screenshots/overview.png. The Snowflake table contains 160,846 active records as verified on 25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docs/architecture.md; docs/methodology.md. Live deployment: https://threatlens-ai-zoro-b535.vercel.app.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docs/dataset.md; snowflake/setup.md; NVD CVE API 2.0 https://nvd.nist.gov/developers/vulnerabilities-2.0; NVD terms https://nvd.nist.gov/developers/terms-of-use. Counts verified read-only in Snowflake on 25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docs/architecture.md; README.md; docs/coco-workflow.md; snowflake/contributions.sql. Status wording reflects current repository and account permissions.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docs/architecture.md; snowflake/setup.md; README.md; backend/app/services/provider.py; backend/app/routes/api.py. Live endpoint evidence: https://threatlens-ai-zoro-b535.vercel.app/api/health.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snowflake/setup.md; snowflake/exploration.sql; snowflake/snowpark_transforms.py; streamlit_app.py. Snowflake AI_COMPLETE docs: https://docs.snowflake.com/en/sql-reference/functions/ai_complete. The Snowpark transform was read-only tested against the current table on 25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backend/app/routes/api.py (/api/project-catalog, /api/datasets, /api/project-scopes); frontend Project Studio; docs/dataset.md. NVD dataset page: https://nvd.nist.gov/developers/vulnerabilities-2.0. Hugging Face cards: https://huggingface.co/datasets/hitoshura25/cvefixes and https://huggingface.co/datasets/vinitvek/cybersecurityattacks.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screenshots/explorer.png, captured from the running app connected to Snowflake. UI behavior and fields: README.md and backend/app/routes/api.py.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docs/methodology.md; data/models/training_report.json; backend/app/analytics/core.py; screenshots/ml-insights.png. CVEfixes: https://huggingface.co/datasets/hitoshura25/cvefixes. Event examples: https://huggingface.co/datasets/vinitvek/cybersecurityattacks.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backend/app/routes/api.py (/api/contributions); snowflake/contributions.sql; docs/architecture.md; docs/coco-workflow.md. CoCo attempt details and request ID are recorded in docs/coco-workflow.md.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snowflake/setup.md; docs/dataset.md; docs/methodology.md; docs/coco-workflow.md; README.md. NVD terms: https://nvd.nist.gov/developers/terms-of-use.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Vercel production deployment for commit 2219289; README.md; frontend package test/build output; backend/tests. Live endpoints: https://threatlens-ai-zoro-b535.vercel.app/api/health, /api/project-catalog, /api/summary, /api/contributions.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docs/coco-workflow.md; docs/dataset.md; snowflake/setup.md; README.md. AI_COMPLETE reference: https://docs.snowflake.com/en/sql-reference/functions/ai_complete.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live application https://threatlens-ai-zoro-b535.vercel.app; screenshots/overview.png; screenshots/explorer.png; screenshots/ml-insights.png; docs/methodology.md.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references: README.md, docs/architecture.md, docs/dataset.md, docs/methodology.md, docs/coco-workflow.md, snowflake/setup.md, and data/models/training_report.json. Official sources: NVD CVE API 2.0 https://nvd.nist.gov/developers/vulnerabilities-2.0; NVD terms https://nvd.nist.gov/developers/terms-of-use; Snowflake AI_COMPLETE https://docs.snowflake.com/en/sql-reference/functions/ai_complete. Live app https://threatlens-ai-zoro-b535.vercel.app; repository https://github.com/yogesh-37911/Threat-Lens-Ai.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a98dc0454747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a7eb196fff4d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7a3a4383314f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326dd15564bf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244b48f18948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9e829eda4948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8265FB-E294-4719-8EF4-68F1817F7C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6B868C-A814-4E8F-B957-99948BEF6D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ADD47F-DB0C-475A-8D53-88CB579085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5E7A47-11B4-465E-B9B0-B5BFA81686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96F19BF-C2FF-4A01-96C0-7F532723E1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27646F-9E08-4D9C-8A3B-648EF2A36C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3C9979-4DB8-4587-89A6-CEFFAB10CC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3F55D5-F08D-4330-80ED-58D09F71C5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A14D1C-8931-4C7D-A360-40FD8811C4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BB7578-5F61-4F20-9E36-0269950501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8bdd521a3d429a" /><Relationship Type="http://schemas.openxmlformats.org/officeDocument/2006/relationships/slideLayout" Target="/ppt/slideLayouts/slideLayout1.xml" Id="R1272390693514015" /><Relationship Type="http://schemas.openxmlformats.org/officeDocument/2006/relationships/slideLayout" Target="/ppt/slideLayouts/slideLayout2.xml" Id="R282ebeaa1e67464a" /><Relationship Type="http://schemas.openxmlformats.org/officeDocument/2006/relationships/slideLayout" Target="/ppt/slideLayouts/slideLayout3.xml" Id="R35057751eb944f84" /><Relationship Type="http://schemas.openxmlformats.org/officeDocument/2006/relationships/slideLayout" Target="/ppt/slideLayouts/slideLayout4.xml" Id="R76db6af8fe5040ba" /><Relationship Type="http://schemas.openxmlformats.org/officeDocument/2006/relationships/slideLayout" Target="/ppt/slideLayouts/slideLayout5.xml" Id="R90b1a2a98acc4c02" /><Relationship Type="http://schemas.openxmlformats.org/officeDocument/2006/relationships/slideLayout" Target="/ppt/slideLayouts/slideLayout6.xml" Id="R830c34869bb749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72390693514015"/>
    <p:sldLayoutId xmlns:r="http://schemas.openxmlformats.org/officeDocument/2006/relationships" id="2147483650" r:id="R282ebeaa1e67464a"/>
    <p:sldLayoutId xmlns:r="http://schemas.openxmlformats.org/officeDocument/2006/relationships" id="2147483651" r:id="R35057751eb944f84"/>
    <p:sldLayoutId xmlns:r="http://schemas.openxmlformats.org/officeDocument/2006/relationships" id="2147483652" r:id="R76db6af8fe5040ba"/>
    <p:sldLayoutId xmlns:r="http://schemas.openxmlformats.org/officeDocument/2006/relationships" id="2147483653" r:id="R90b1a2a98acc4c02"/>
    <p:sldLayoutId xmlns:r="http://schemas.openxmlformats.org/officeDocument/2006/relationships" id="2147483654" r:id="R830c34869bb749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ThreatLens Halloween">
      <a:dk1>
        <a:srgbClr val="000000"/>
      </a:dk1>
      <a:lt1>
        <a:srgbClr val="FFFFFF"/>
      </a:lt1>
      <a:dk2>
        <a:srgbClr val="111622"/>
      </a:dk2>
      <a:lt2>
        <a:srgbClr val="E7E6E3"/>
      </a:lt2>
      <a:accent1>
        <a:srgbClr val="FF9A3D"/>
      </a:accent1>
      <a:accent2>
        <a:srgbClr val="9A82FF"/>
      </a:accent2>
      <a:accent3>
        <a:srgbClr val="44D19F"/>
      </a:accent3>
      <a:accent4>
        <a:srgbClr val="FF7979"/>
      </a:accent4>
      <a:accent5>
        <a:srgbClr val="FFD477"/>
      </a:accent5>
      <a:accent6>
        <a:srgbClr val="54B5E5"/>
      </a:accent6>
      <a:hlink>
        <a:srgbClr val="85B9FF"/>
      </a:hlink>
      <a:folHlink>
        <a:srgbClr val="9A82FF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ThreatLens Hallowee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b29d9bd3bf439b" /><Relationship Type="http://schemas.openxmlformats.org/officeDocument/2006/relationships/image" Target="/ppt/media/image.jpeg" Id="Rb20911390e1042bb" /><Relationship Type="http://schemas.openxmlformats.org/officeDocument/2006/relationships/notesSlide" Target="/ppt/notesSlides/notesSlide1.xml" Id="R7c89b260324042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289a0f12484613" /><Relationship Type="http://schemas.openxmlformats.org/officeDocument/2006/relationships/notesSlide" Target="/ppt/notesSlides/notesSlide2.xml" Id="R3d73191d9ad94b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9eaea03dce41d4" /><Relationship Type="http://schemas.openxmlformats.org/officeDocument/2006/relationships/notesSlide" Target="/ppt/notesSlides/notesSlide3.xml" Id="R81486b6d0e5445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4eaac81e61421e" /><Relationship Type="http://schemas.openxmlformats.org/officeDocument/2006/relationships/notesSlide" Target="/ppt/notesSlides/notesSlide4.xml" Id="Rb7b90553e00a47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4dd80796164c1f" /><Relationship Type="http://schemas.openxmlformats.org/officeDocument/2006/relationships/notesSlide" Target="/ppt/notesSlides/notesSlide5.xml" Id="R95eae96199ac46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24052a2ce44f70" /><Relationship Type="http://schemas.openxmlformats.org/officeDocument/2006/relationships/notesSlide" Target="/ppt/notesSlides/notesSlide6.xml" Id="R4dd66e03849c47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b0d46fac144196" /><Relationship Type="http://schemas.openxmlformats.org/officeDocument/2006/relationships/notesSlide" Target="/ppt/notesSlides/notesSlide7.xml" Id="Rdd7080c11bf943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d9cf38efc140dc" /><Relationship Type="http://schemas.openxmlformats.org/officeDocument/2006/relationships/image" Target="/ppt/media/image2.jpeg" Id="Raa7787f4cf1b466c" /><Relationship Type="http://schemas.openxmlformats.org/officeDocument/2006/relationships/notesSlide" Target="/ppt/notesSlides/notesSlide8.xml" Id="Re816bf45c1e440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884cf639464c49" /><Relationship Type="http://schemas.openxmlformats.org/officeDocument/2006/relationships/notesSlide" Target="/ppt/notesSlides/notesSlide9.xml" Id="R3c0c5f87fac34d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d0fce66b334456" /><Relationship Type="http://schemas.openxmlformats.org/officeDocument/2006/relationships/notesSlide" Target="/ppt/notesSlides/notesSlide10.xml" Id="R8734ef5a5bc745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c66f0ff3c94b00" /><Relationship Type="http://schemas.openxmlformats.org/officeDocument/2006/relationships/notesSlide" Target="/ppt/notesSlides/notesSlide11.xml" Id="Rbe400ce521454c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a3a93bf55e4460" /><Relationship Type="http://schemas.openxmlformats.org/officeDocument/2006/relationships/notesSlide" Target="/ppt/notesSlides/notesSlide12.xml" Id="R058dadf715b443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b554ac24274458" /><Relationship Type="http://schemas.openxmlformats.org/officeDocument/2006/relationships/notesSlide" Target="/ppt/notesSlides/notesSlide13.xml" Id="Rbfa95ff7a59447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3c6331970a4d8c" /><Relationship Type="http://schemas.openxmlformats.org/officeDocument/2006/relationships/notesSlide" Target="/ppt/notesSlides/notesSlide14.xml" Id="R0c65b038221a491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d6e1dac15349ca" /><Relationship Type="http://schemas.openxmlformats.org/officeDocument/2006/relationships/notesSlide" Target="/ppt/notesSlides/notesSlide15.xml" Id="R980c2cf8772742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E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84DEF-DF5D-4F44-9608-1847E343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35638-857E-432A-97E1-884359A1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TEAM NGB × TEAM NOVA ECOSYSTEM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5B7B7-B55C-4BF6-8033-FEA2986F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ThreatLens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7B5B0-8FB5-4724-984C-3DD4920F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4667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0B2FF"/>
                </a:solidFill>
                <a:latin typeface="Arial"/>
                <a:ea typeface="Arial"/>
                <a:cs typeface="Arial"/>
              </a:rPr>
              <a:t>Snowflake-centered vulnerability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BFF9E-F0C8-4DBE-85AF-0B76BB70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37"/>
          </a:bodyPr>
          <a:lstStyle xmlns:a="http://schemas.openxmlformats.org/drawingml/2006/main">
            <a:def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Public NVD data, source-backed CVSS, explainable triage, and task-specific security ML.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964CA-DD02-44D8-92A8-2F1908B8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2571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92418"/>
          </a:solidFill>
          <a:ln xmlns:a="http://schemas.openxmlformats.org/drawingml/2006/main" w="9525">
            <a:solidFill>
              <a:srgbClr val="7E4A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D321A-5149-4D43-A0AB-DB70144A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303"/>
          </a:bodyPr>
          <a:lstStyle xmlns:a="http://schemas.openxmlformats.org/drawingml/2006/main">
            <a:def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HACKTOBER  •  CHALLENGE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8A776-2886-4990-B8F8-B848A5A0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9590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LIVE SNOWFLAKE SOURCE</a:t>
            </a:r>
          </a:p>
          <a:p xmlns:a="http://schemas.openxmlformats.org/drawingml/2006/main">
            <a:pPr algn="l">
              <a:defRPr sz="15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160,846 active NVD-origin CVEs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C176F-B173-4FB1-8A54-3357E1C417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911390e1042bb"/>
          <a:stretch xmlns:a="http://schemas.openxmlformats.org/drawingml/2006/main"/>
        </p:blipFill>
        <p:spPr>
          <a:xfrm xmlns:a="http://schemas.openxmlformats.org/drawingml/2006/main">
            <a:off x="5810250" y="1632087"/>
            <a:ext cx="5810250" cy="3269976"/>
          </a:xfrm>
          <a:prstGeom xmlns:a="http://schemas.openxmlformats.org/drawingml/2006/main" prst="roundRect">
            <a:avLst>
              <a:gd name="adj" fmla="val 346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DB7DB-300A-45EF-ACF4-1D0417E3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057775"/>
            <a:ext cx="579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Production dashboard • Vercel • current source status visible in the 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DB531-A4E0-4336-9E8B-B234AC19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51BF7-E983-4D9F-9C63-EAE45B81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Project overview and system architecture  |  25 October 2026</a:t>
            </a:r>
          </a:p>
        </p:txBody>
      </p:sp>
    </p:spTree>
    <p:extLst>
      <p:ext uri="{BB962C8B-B14F-4D97-AF65-F5344CB8AC3E}">
        <p14:creationId xmlns:p14="http://schemas.microsoft.com/office/powerpoint/2010/main" val="783413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E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4067D7-90AA-45BD-8E2D-A8365E98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FEDF9-C6AF-41AA-89A4-FAF15B1B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01  / 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53102-8C51-4C83-B509-7A5F2D55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14ADF-9850-41F0-9E82-B7065AFB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553FA-4A0A-4B1C-B8EE-523E9995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THREATLENS AI  /  TEAM NGB × TEAM NOVA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39520-C13D-48F2-8C26-AB2C26B1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7F8D3-B44F-4258-974E-97F56C81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905"/>
          </a:bodyPr>
          <a:lstStyle xmlns:a="http://schemas.openxmlformats.org/drawingml/2006/main">
            <a:def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A practical analyst workspace for public vulnerability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366AC-79DE-4F26-A29F-39E67131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695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ThreatLens reads NVD-origin CVE records from Snowflake, keeps official source values intact, and brings discovery, filtering, analysis, and reporting into one web application.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34E43-0D80-4969-8F41-B35A7101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WHAT IT SOLVES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0C9BA-7C59-48E8-A3D7-05843036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• Large CVE catalogs are hard to explore</a:t>
            </a:r>
          </a:p>
          <a:p xmlns:a="http://schemas.openxmlformats.org/drawingml/2006/main">
            <a: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• Missing source scores must stay visibly missing</a:t>
            </a:r>
          </a:p>
          <a:p xmlns:a="http://schemas.openxmlformats.org/drawingml/2006/main">
            <a: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• Research signals need a clear trail to the NVD 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190EA-06AC-40C6-AF4E-960CCDF6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57550"/>
            <a:ext cx="0" cy="2209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6C8C2-E190-4E74-8988-42463571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B2FF"/>
                </a:solidFill>
                <a:latin typeface="Arial"/>
                <a:ea typeface="Arial"/>
                <a:cs typeface="Arial"/>
              </a:rPr>
              <a:t>WHAT IT DELIVERS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8BBC2-2DA9-4B1A-8A93-FB7A199D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242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• Live Snowflake-backed Explorer</a:t>
            </a:r>
          </a:p>
          <a:p xmlns:a="http://schemas.openxmlformats.org/drawingml/2006/main">
            <a: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• Source CVSS and a separate local triage heuristic</a:t>
            </a:r>
          </a:p>
          <a:p xmlns:a="http://schemas.openxmlformats.org/drawingml/2006/main">
            <a: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• Held-out dataset metrics and downloadable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A49801-5106-4059-A27D-4E44ABEB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0" cy="2209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D9F16-9A6C-4B9E-8F8D-20E281C7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385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4D19F"/>
                </a:solidFill>
                <a:latin typeface="Arial"/>
                <a:ea typeface="Arial"/>
                <a:cs typeface="Arial"/>
              </a:rPr>
              <a:t>WHO IT SUPPORTS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4AE7D-2DD9-4DBB-AB19-A8563DF5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24250"/>
            <a:ext cx="30099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Security analysts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Developers and researchers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Hackathon collaborators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A7E753-86BE-409D-9E75-759AD458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62600"/>
            <a:ext cx="110299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51B28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8B7AF3-F1D5-4DF4-84C9-FAC1A308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10639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Core principle: CVSS remains source evidence; ThreatLens priority remains a disclosed heuristic.</a:t>
            </a:r>
          </a:p>
        </p:txBody>
      </p:sp>
    </p:spTree>
    <p:extLst>
      <p:ext uri="{BB962C8B-B14F-4D97-AF65-F5344CB8AC3E}">
        <p14:creationId xmlns:p14="http://schemas.microsoft.com/office/powerpoint/2010/main" val="10646954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E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90C5D9-6C67-4FB7-86C7-583B637D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18F66-97AB-4CE3-8B2D-B6DD4CE1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02  / 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BDE9F-9404-4AD7-9D00-5094B756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Dataset and source provenance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E45E5-114C-4317-BDAF-5B97B2DA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77518-DF56-4474-A643-5B4A6C49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THREATLENS AI  /  TEAM NGB × TEAM NOVA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93C0E-9645-4A4E-B074-D2D59354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4C58E-4568-4B27-97E5-EFC3A497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SELECTED PUBLIC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74240-AF4C-416B-8020-57B7F603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67"/>
          </a:bodyPr>
          <a:lstStyle xmlns:a="http://schemas.openxmlformats.org/drawingml/2006/main">
            <a:def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NIST National Vulnerability Database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6F6EB-57B4-435F-9C15-09F319AA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31"/>
          </a:bodyPr>
          <a:lstStyle xmlns:a="http://schemas.openxmlformats.org/drawingml/2006/main">
            <a:def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CVE API 2.0 and annual feeds for 2024–2026 are loaded into the canonical Snowflake table. NVD is the data origin; Snowflake is the live storage and compute layer.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5DD6F-F7D5-433F-B2AA-B00A042D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429"/>
          </a:bodyPr>
          <a:lstStyle xmlns:a="http://schemas.openxmlformats.org/drawingml/2006/main">
            <a:defPPr algn="l">
              <a:defRPr sz="31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9A3D"/>
                </a:solidFill>
                <a:latin typeface="Arial"/>
                <a:ea typeface="Arial"/>
                <a:cs typeface="Arial"/>
              </a:rPr>
              <a:t>160,846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CEA77-071F-41CD-9FEB-37F32AF8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active records in the live application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94C0B-A6D9-472C-B119-D801DF62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828"/>
          </a:bodyPr>
          <a:lstStyle xmlns:a="http://schemas.openxmlformats.org/drawingml/2006/main">
            <a:def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164,568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18C32-558E-4D6C-95A9-4D67F3F4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386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table rows before</a:t>
            </a:r>
          </a:p>
          <a:p xmlns:a="http://schemas.openxmlformats.org/drawingml/2006/main">
            <a: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withdrawn-record filtering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9DA36-EFF9-4546-98B5-7A608957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05300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828"/>
          </a:bodyPr>
          <a:lstStyle xmlns:a="http://schemas.openxmlformats.org/drawingml/2006/main">
            <a:def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3,722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C13B20-93C4-4A95-B2CF-9FC34F8C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386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rejected / withdrawn</a:t>
            </a:r>
          </a:p>
          <a:p xmlns:a="http://schemas.openxmlformats.org/drawingml/2006/main">
            <a: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records excluded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2B6379-F87A-4AA3-A1F0-3083DDBA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543050"/>
            <a:ext cx="0" cy="436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5116D7-29FB-4B10-A6D3-9446274F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04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B2FF"/>
                </a:solidFill>
                <a:latin typeface="Arial"/>
                <a:ea typeface="Arial"/>
                <a:cs typeface="Arial"/>
              </a:rPr>
              <a:t>SOURCE-REPORTED SEVERITY MIX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83C24-F6D8-48AD-B2CE-6BA79E7B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77647-9481-45CC-AD3A-A099B950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19300"/>
            <a:ext cx="30670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A21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DD52F-8BEB-4EB0-89A6-F04DB6F0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19300"/>
            <a:ext cx="30670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D4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9B117D-FAAB-4580-A333-4A821E3C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0"/>
            <a:ext cx="990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69,947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E6C10C-74A9-46DD-AEDB-9B6DF335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B23F38-92CB-4ECD-87DF-9D259F6C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05100"/>
            <a:ext cx="30670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A21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E82888-3EE8-4F92-8AC0-B5D29D0A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05100"/>
            <a:ext cx="2644266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93BDE-9CF3-4B86-95D0-BABB594F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86050"/>
            <a:ext cx="990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60,305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588663-C8C1-421D-9084-1E089BEA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71850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CRITICAL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C482AE-C878-4729-81E7-B31A5841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90900"/>
            <a:ext cx="30670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A21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CB0FC6-1959-4833-86CF-EF7E357B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90900"/>
            <a:ext cx="713761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79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8EE3F2-561D-4998-87D0-45322C91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71850"/>
            <a:ext cx="990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16,278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0167B3-C62C-4FE2-8E63-2E27DE7C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57650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21ED63-C7AF-41C3-B65D-BC1FEDEE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76700"/>
            <a:ext cx="30670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A21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4A05B8-610C-4F24-85D5-BFE83BCC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76700"/>
            <a:ext cx="462949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44D1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C7183B-D388-40BB-A653-8B930D35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57650"/>
            <a:ext cx="990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10,558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63108C-2D38-41A6-A554-E9261EBE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48200"/>
            <a:ext cx="550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F899D"/>
                </a:solidFill>
                <a:latin typeface="Arial"/>
                <a:ea typeface="Arial"/>
                <a:cs typeface="Arial"/>
              </a:rPr>
              <a:t>ALSO: UNKNOWN 3,656  •  NONE 102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0D39A4-01BD-43A3-865D-40D647ED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00625"/>
            <a:ext cx="557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392418"/>
          </a:solidFill>
          <a:ln xmlns:a="http://schemas.openxmlformats.org/drawingml/2006/main" w="9525">
            <a:solidFill>
              <a:srgbClr val="70412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083B70-78C2-46AC-AF6F-664A6CF7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067300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7,378 records have no CVSS score. ThreatLens displays them as unscored; it does not invent a CVSS value.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297788-5183-4803-A565-778614EE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86400"/>
            <a:ext cx="4762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197"/>
          </a:bodyPr>
          <a:lstStyle xmlns:a="http://schemas.openxmlformats.org/drawingml/2006/main">
            <a:def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Data published 2023-11-28 to 2026-10-24. Snowflake SAMPLE_DATA contains TPC-H / TPC-DS, not cybersecurity data.</a:t>
            </a:r>
          </a:p>
        </p:txBody>
      </p:sp>
    </p:spTree>
    <p:extLst>
      <p:ext uri="{BB962C8B-B14F-4D97-AF65-F5344CB8AC3E}">
        <p14:creationId xmlns:p14="http://schemas.microsoft.com/office/powerpoint/2010/main" val="11937527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E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D9155F-A547-4224-9815-E9F98885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05E20-6A23-4D8A-B2B1-1076C6FC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03  /  BLUEPRINT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734FD-F846-4FA8-B647-E0D46C3F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Five-stage hackathon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5CFD1-C08D-4102-8AAD-A07A1C72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DA8B9-8C47-4557-9FD3-E07BD7B4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THREATLENS AI  /  TEAM NGB × TEAM NOVA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D3928-AE59-4D8F-AC38-72EE2497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89D30-292F-418C-967F-B90A3208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9A3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D85D7-03C3-4789-8BB2-1C0DF4F3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AEA8D-FCA1-4791-8D13-0DCC10DE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9A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3C594-8C0B-4286-BFAB-73DB88BD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NVD CVE catalog</a:t>
            </a:r>
          </a:p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Hugging Face datasets</a:t>
            </a:r>
          </a:p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Marketplace 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0AE3D-D415-487C-A2AA-18B4A662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D19F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AD63E-9502-4A44-AC7E-41237A9A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00425"/>
            <a:ext cx="133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FD520-15DE-4994-A839-4DCB84B5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288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9A82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AC9B0-0FFF-4444-BF28-F1C35E3A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3362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0C8E7-A887-4186-9C4A-52E10330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09875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82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4CC799-4C99-4DD0-BD47-DED6EEBD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81325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Vulnerability, code flaw,</a:t>
            </a:r>
          </a:p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intrusion templates</a:t>
            </a:r>
          </a:p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Goal and metric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7E237B-EB31-4737-9B81-14659924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3387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D19F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071F9-1380-4C6A-815D-2AF04B87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00425"/>
            <a:ext cx="133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4282F-D784-43D9-A45D-FBE806CC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288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9A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44E70B-268E-4A78-914F-D16D6FF7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3362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3C783C-DBD6-43DB-8652-442E560A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9875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9A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E33C73-65A1-4C5C-93EB-BC4726D9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81325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Snowpark normalization</a:t>
            </a:r>
          </a:p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Separate task models</a:t>
            </a:r>
          </a:p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Cortex fallback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E51F9E-9D3E-45FA-87F2-25377657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3387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D19F"/>
                </a:solidFill>
                <a:latin typeface="Arial"/>
                <a:ea typeface="Arial"/>
                <a:cs typeface="Arial"/>
              </a:rPr>
              <a:t>Implemented / gated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F15A0F-773F-4E95-B214-9FEC75BD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00425"/>
            <a:ext cx="133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4A2988-FF4A-40B9-96EC-7619BCD2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288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9A82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59DFA0-9F3C-482D-B625-3D5BBA28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4822F6-FE61-4B1E-9183-AF7F3F1E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82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86EA22-1DB6-4F09-A58C-CDCD9D3B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81325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Held-out metrics</a:t>
            </a:r>
          </a:p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Contribution API</a:t>
            </a:r>
          </a:p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Append-only SQL ledger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743F10-8531-44C9-B72E-42654471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3387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Ledger not enabled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E363D0-4F26-42F2-BCDD-4EC24099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00425"/>
            <a:ext cx="133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65C574-703D-4E25-8FEB-0F93B81A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288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9A3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27B7F8-1FC6-4464-B9AA-E74F656D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3362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Deploy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4D4C90-8077-4126-ADAE-6A2B63F8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09875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9A3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F268D7-9830-4828-B97D-AD2786A7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81325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React + Flask production</a:t>
            </a:r>
          </a:p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Native Streamlit source</a:t>
            </a:r>
          </a:p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Exports and feedback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23664C-C522-427E-89C9-E8B2B3BC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3387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D19F"/>
                </a:solidFill>
                <a:latin typeface="Arial"/>
                <a:ea typeface="Arial"/>
                <a:cs typeface="Arial"/>
              </a:rPr>
              <a:t>Web app live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E74FBC-9F37-47DB-9CA2-8E68C582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11020425" cy="65722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B28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95320A-489C-49AA-B22D-997ADF0C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197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This is a working five-stage product flow. Account-only services stay marked as gated until the required Snowflake access is enabled.</a:t>
            </a:r>
          </a:p>
        </p:txBody>
      </p:sp>
    </p:spTree>
    <p:extLst>
      <p:ext uri="{BB962C8B-B14F-4D97-AF65-F5344CB8AC3E}">
        <p14:creationId xmlns:p14="http://schemas.microsoft.com/office/powerpoint/2010/main" val="13756634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E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500775-7F3D-4A57-8273-ED748790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8DF94-F82E-456E-B515-624AF251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04  /  RUNTIME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B6D81-9442-4034-BFCD-8B212F4E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D50F6-5DC6-4D0A-8785-4DA2F0EC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63139-A767-4211-978F-A6D62015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THREATLENS AI  /  TEAM NGB × TEAM NOVA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94D54-CDFC-4ABE-BF75-A7F0B8C2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C31A3-0E86-4F40-A39B-6BC2132E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3190875" cy="22098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151B28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80895-7B49-4D57-BB2B-02B28F72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3190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8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B332F-828A-4832-A24C-5CBA7E23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771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82FF"/>
                </a:solidFill>
                <a:latin typeface="Arial"/>
                <a:ea typeface="Arial"/>
                <a:cs typeface="Arial"/>
              </a:rPr>
              <a:t>PUBLIC DATA + INGEST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EF57F-2D1B-4DD6-98C8-E6D38BCE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7717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NVD CVE API 2.0</a:t>
            </a:r>
          </a:p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Annual feeds (2024–2026)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Authorized importer</a:t>
            </a:r>
          </a:p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loads NVD rows to Snowflake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104A3-7A57-4DDE-9363-61920961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38350"/>
            <a:ext cx="3190875" cy="22098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151B28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B3DAA-40A8-43EE-A2D9-56C7B1AF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38350"/>
            <a:ext cx="3190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E23A7-660D-44EC-9A7E-32336841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47900"/>
            <a:ext cx="2771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9A3D"/>
                </a:solidFill>
                <a:latin typeface="Arial"/>
                <a:ea typeface="Arial"/>
                <a:cs typeface="Arial"/>
              </a:rPr>
              <a:t>SNOWFLAKE 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660D2-8AAD-4B7C-9563-1D560135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28900"/>
            <a:ext cx="27717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72"/>
          </a:bodyPr>
          <a:lstStyle xmlns:a="http://schemas.openxmlformats.org/drawingml/2006/main">
            <a:def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THREATLENS_DB</a:t>
            </a:r>
          </a:p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THREATLENS.VULNERABILITIES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Canonical CVE fields</a:t>
            </a:r>
          </a:p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160,846 active records</a:t>
            </a:r>
          </a:p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X-Small warehouse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74326-FFE2-4812-B66F-374EC6D6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38350"/>
            <a:ext cx="3190875" cy="22098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151B28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CF5785-F528-43C0-B4EF-8FC82711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38350"/>
            <a:ext cx="3190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1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3C072F-3B44-4109-A8D1-BE992BE9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47900"/>
            <a:ext cx="2771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4D19F"/>
                </a:solidFill>
                <a:latin typeface="Arial"/>
                <a:ea typeface="Arial"/>
                <a:cs typeface="Arial"/>
              </a:rPr>
              <a:t>APPLICATION + ANALYTICS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F3537-757E-405A-8179-1A3A2C5E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28900"/>
            <a:ext cx="27717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React + Vite dashboard</a:t>
            </a:r>
          </a:p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Flask REST API on Vercel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Read-only Snowflake provider</a:t>
            </a:r>
          </a:p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Python analytics and reports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8D1134-0B94-4D83-A19A-232C4279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943225"/>
            <a:ext cx="4476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D6BEE6-8734-4195-B807-4CF8F173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43225"/>
            <a:ext cx="4476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842DF8-1A37-4F83-AEE7-280127A2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400425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A71B5E-2107-46E4-9B3F-518FDB86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0425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6418B0-AF94-412C-A892-F570356C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3DC166-E821-4FAA-B763-E7EDD878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B2FF"/>
                </a:solidFill>
                <a:latin typeface="Arial"/>
                <a:ea typeface="Arial"/>
                <a:cs typeface="Arial"/>
              </a:rPr>
              <a:t>ADDITIONAL PATHS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94C273-7D8B-4412-8C5A-A364370F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Snowpark + Streamlit source uses an authenticated Snowflake session for in-warehouse transforms and priority drill-down.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53E9BC-B787-4BE3-B44D-56ACCE49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48275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15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Hugging Face task models stay separate from NVD training. Optional AI uses server-side provider settings and a local fallback.</a:t>
            </a:r>
          </a:p>
        </p:txBody>
      </p:sp>
    </p:spTree>
    <p:extLst>
      <p:ext uri="{BB962C8B-B14F-4D97-AF65-F5344CB8AC3E}">
        <p14:creationId xmlns:p14="http://schemas.microsoft.com/office/powerpoint/2010/main" val="4718940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E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5ACBF-0F3C-4B79-8421-0A173447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59C46-AE2D-444C-A140-97A0546F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05  /  SNOWFLAKE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09864-0E6C-43BA-BD32-5FB9F050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Snowflake is the data and compute 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0089E-B927-49F9-B894-FB002F3C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1A846-78AD-47BA-BC1B-47C6135E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THREATLENS AI  /  TEAM NGB × TEAM NOVA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54932-54FA-4966-BB7B-E55706DA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7A5BA-1A2B-406B-A335-E2885DF2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LIVE CANONICAL TABLE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ED966-F97F-43F0-84C2-B5C0BF9F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500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>
            <a:def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THREATLENS_DB.THREATLENS</a:t>
            </a:r>
          </a:p>
          <a:p xmlns:a="http://schemas.openxmlformats.org/drawingml/2006/main">
            <a: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VULNERABILITIES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31A24-BD92-4CB2-ACAD-652051CC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CVE_ID • DESCRIPTION • PUBLISHED</a:t>
            </a:r>
          </a:p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CVSS_SCORE • SEVERITY • CWE</a:t>
            </a:r>
          </a:p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AFFECTED_PRODUCTS • SOURCE_URL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3B16E-3E34-47FC-97F1-1EC25BFE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>
            <a:defPPr algn="l">
              <a:defRPr sz="300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9A3D"/>
                </a:solidFill>
                <a:latin typeface="Arial"/>
                <a:ea typeface="Arial"/>
                <a:cs typeface="Arial"/>
              </a:rPr>
              <a:t>160,846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88FEA-1DEB-4A20-B825-CB252E28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862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active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139C8-EBB9-41B5-A9A6-A97E6709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38550"/>
            <a:ext cx="2057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>
            <a:defPPr algn="l">
              <a:defRPr sz="300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9A82FF"/>
                </a:solidFill>
                <a:latin typeface="Arial"/>
                <a:ea typeface="Arial"/>
                <a:cs typeface="Arial"/>
              </a:rPr>
              <a:t>7,378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70FC9-16FE-4216-A67B-875EF4DD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862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without source CVSS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7956D-355F-44CC-AD48-F2BDAB28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71625"/>
            <a:ext cx="0" cy="433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BCA1E-6FF7-4F0E-82AC-5D95A19B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24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4D19F"/>
                </a:solidFill>
                <a:latin typeface="Arial"/>
                <a:ea typeface="Arial"/>
                <a:cs typeface="Arial"/>
              </a:rPr>
              <a:t>WAREHOUSE CONTROLS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59C93-C048-4857-8BCB-E3480945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38325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• X-Small warehouse</a:t>
            </a:r>
          </a:p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• 60-second auto-suspend</a:t>
            </a:r>
          </a:p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• 2-credit monthly monitor cap</a:t>
            </a:r>
          </a:p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• Application service role is read-only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99E91-94DA-40D5-89DC-C274F58E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9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IN-WAREHOUSE TRANSFORMS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56E6BF-27BD-41D9-B6D0-C21D0553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05225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Snowpark cleans and normalizes CVE fields, then computes a separate 0–100 TRIAGE_SCORE. Source CVSS is preserved as-is.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0F6A6D-2D5B-4880-B692-E7E407A2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53000"/>
            <a:ext cx="52006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92418"/>
          </a:solidFill>
          <a:ln xmlns:a="http://schemas.openxmlformats.org/drawingml/2006/main" w="9525">
            <a:solidFill>
              <a:srgbClr val="70412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ADC4C2-D503-4152-BDEF-60D82BC4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057775"/>
            <a:ext cx="4810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Cortex AI_COMPLETE is implemented with fallback, but this trial account currently blocks completion.</a:t>
            </a:r>
          </a:p>
        </p:txBody>
      </p:sp>
    </p:spTree>
    <p:extLst>
      <p:ext uri="{BB962C8B-B14F-4D97-AF65-F5344CB8AC3E}">
        <p14:creationId xmlns:p14="http://schemas.microsoft.com/office/powerpoint/2010/main" val="9071761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E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F22475-AD77-41D8-9A51-56953A82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D96A7-C2ED-418F-B6B9-B45BF212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06  /  PROJECT STUDIO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09085-2BDE-4161-A9A6-BA3F2C7D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Dataset and project discovery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B981F-3D31-49ED-8F3E-9964A7C1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E05C0-4A9D-475B-8A53-3D6FED9B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THREATLENS AI  /  TEAM NGB × TEAM NOVA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6A716-6D81-4207-B419-39786D46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1335D-62CB-4C9B-A486-9C206DC5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DISCOVERY CATALOG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4B9B0-7029-4F71-AE5A-C381A0D9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5095875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51B28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C0FF2-83A3-4053-ABF7-9A587600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1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B4450-FCA0-4822-B97E-771277A5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3357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NVD CVE 2.0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D3C2B-A557-482F-A62B-B9DBAD93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33575"/>
            <a:ext cx="241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Connected • live Snowflake 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12172-6BD7-4BF2-8CDA-5194067B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5095875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51B28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6CCCB-7F03-4BD3-9035-00D1CB31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8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28B6D-1A3E-4983-B8FC-E3D20082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CVEfixes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E5DEA-AFAB-460B-8CF6-3066D438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00325"/>
            <a:ext cx="241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Public code-fix research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F68AE-9840-4258-B1B8-6F681F64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0400"/>
            <a:ext cx="5095875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51B28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97DF8-4579-4658-9A4B-FF004C72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04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8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CD354E-F96B-4917-9731-E98AB70F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Cybersecurity Attacks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F54F7-9FF1-44A2-A4E0-EE05CE7B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67075"/>
            <a:ext cx="241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Public labeled event examples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F956BF-2624-4CFA-A820-4A5CE675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5095875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51B28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FC5B17-AEA0-4890-B8FD-597BA634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8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A05B2F-8401-4A65-8C77-1F624D10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38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Shared sample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5E2765-C317-4D1A-BE20-FD2F3A99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33825"/>
            <a:ext cx="241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TPC-H / TPC-DS; not cyber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63E6EA-971F-46A7-B19D-9616D3E8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33900"/>
            <a:ext cx="5095875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51B28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E99E35-5263-48A5-BA78-7C81CEE6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339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8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4B01F1-0B2F-45FD-8508-BB4F409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0057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Marketplace listings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8364A5-4C14-48B0-AE20-2C1B7A43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00575"/>
            <a:ext cx="241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Account and listing dependent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E7AAF6-606E-4966-87D2-5D812F04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571625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72FD78-39C0-4B1D-B4DE-B8BA72ED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524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B2FF"/>
                </a:solidFill>
                <a:latin typeface="Arial"/>
                <a:ea typeface="Arial"/>
                <a:cs typeface="Arial"/>
              </a:rPr>
              <a:t>PROJECT TEMPLATES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190BE9-46C0-4161-8A7F-0804CF02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9050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01  Vulnerability prioritization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3A705D-EF82-4EB5-87D7-DDF31893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445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Source CVSS coverage • severity • remediation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84A730-7E4E-4226-9204-52F3240E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3845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8BBFDD-8041-4B01-80A6-D6547D06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9718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02  Code flaw classifier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E3E45D-A93C-41E9-9DF4-CCAF79D8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71850"/>
            <a:ext cx="445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Macro F1 • class recall • grouped holdout checks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ABE597-E39B-4641-BD94-5BF46CD7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90525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24C398-84B8-4FEC-8A25-DD94A5F6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0386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03  Intrusion detection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3E2549-1ED4-42CE-82C7-00D9AC60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45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Macro F1 • false positives • per-class recall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56D0CD-5A36-44B2-B7B8-F23F8D46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19700"/>
            <a:ext cx="485775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27223E"/>
          </a:solidFill>
          <a:ln xmlns:a="http://schemas.openxmlformats.org/drawingml/2006/main" w="9525">
            <a:solidFill>
              <a:srgbClr val="49407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A0C141-8030-403B-A7BF-BCF89D13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95900"/>
            <a:ext cx="452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0B2FF"/>
                </a:solidFill>
                <a:latin typeface="Arial"/>
                <a:ea typeface="Arial"/>
                <a:cs typeface="Arial"/>
              </a:rPr>
              <a:t>Scope validation checks template, dataset, goal, and success metrics. Project briefs stay in browser storage.</a:t>
            </a:r>
          </a:p>
        </p:txBody>
      </p:sp>
    </p:spTree>
    <p:extLst>
      <p:ext uri="{BB962C8B-B14F-4D97-AF65-F5344CB8AC3E}">
        <p14:creationId xmlns:p14="http://schemas.microsoft.com/office/powerpoint/2010/main" val="17764169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E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1340B-0B11-4C87-BBA9-DC0382C6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F4BD6-2C5F-413F-A8B2-94321FBA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07  /  PRODUCT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1EDAC-14A3-4A47-B32E-D1E9B517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Vulnerability Explorer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CA88B-11EE-482E-A6EC-0B07011A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3A78C-7889-4AD7-89AB-A1F3E155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THREATLENS AI  /  TEAM NGB × TEAM NOVA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95F29-3493-4B26-8FA4-40A8B4B2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C9B46-ADD2-47DF-8592-310FCE1B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327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Find and verify CVEs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0235F-B6AC-48BD-B680-DB09D244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3238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Search records, filter by severity and CVSS range, narrow by publication date or CWE, then open the linked NVD record.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2385A-3DD7-4F06-AABC-79036C4D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B2FF"/>
                </a:solidFill>
                <a:latin typeface="Arial"/>
                <a:ea typeface="Arial"/>
                <a:cs typeface="Arial"/>
              </a:rPr>
              <a:t>SOURCE-AWARE 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3AA14-33D0-4963-AFA3-6BDBBD9B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323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• Official CVSS</a:t>
            </a:r>
          </a:p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• Source severity</a:t>
            </a:r>
          </a:p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• Published timestamp</a:t>
            </a:r>
          </a:p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• CWE and affected products</a:t>
            </a:r>
          </a:p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• NVD evidence 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F442E-023B-4520-8AFF-446A66E7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CSV / JSON exports follow active filters.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50F19-CCE5-48A1-8B5F-3BB3B11A2B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787f4cf1b466c"/>
          <a:stretch xmlns:a="http://schemas.openxmlformats.org/drawingml/2006/main"/>
        </p:blipFill>
        <p:spPr>
          <a:xfrm xmlns:a="http://schemas.openxmlformats.org/drawingml/2006/main">
            <a:off x="4100891" y="1657350"/>
            <a:ext cx="7514468" cy="4229100"/>
          </a:xfrm>
          <a:prstGeom xmlns:a="http://schemas.openxmlformats.org/drawingml/2006/main" prst="roundRect">
            <a:avLst>
              <a:gd name="adj" fmla="val 2252"/>
            </a:avLst>
          </a:prstGeom>
        </p:spPr>
      </p:pic>
    </p:spTree>
    <p:extLst>
      <p:ext uri="{BB962C8B-B14F-4D97-AF65-F5344CB8AC3E}">
        <p14:creationId xmlns:p14="http://schemas.microsoft.com/office/powerpoint/2010/main" val="20372915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E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983727-78FE-4A50-8255-37C276B1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60C88-1176-4521-B3E8-8504E55E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08  /  ANALYTICS + 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3D573-C9EC-491A-9B81-F9BA6C4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Explainable analysis and held-out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C27D4-8E29-460D-91F4-95D485B8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DB60E-8E29-41C5-A8C2-1C5694F0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THREATLENS AI  /  TEAM NGB × TEAM NOVA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3C272-3B65-4992-9D7E-E81294FD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B10A1-2CE8-4D98-955F-1FD3B6DC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5846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SEPARATE THE OFFICIAL SCORE FROM LOCAL RANKING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AD7D8-9113-4FF8-84F1-3D097FDD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19275"/>
            <a:ext cx="523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CVSS and severity come from NVD. The CVSS Analysis view orders by the source score. ThreatLens triage is a separate heuristic: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1139E-D697-4F69-BB2B-9CA0FAE1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5238750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B28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2D4CA-3A80-4AA3-903B-AE78454A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4819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80% normalized CVSS  +  20% 365-day recency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2D304-5171-42E1-982D-2ED14605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523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Missing source CVSS stays unscored in CVSS analysis. A priority score is an investigation aid, not proof of exploitation.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C6C2A-98CF-4433-89F9-D04DD90D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571625"/>
            <a:ext cx="0" cy="433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CFA5C-9FFF-44FB-B524-04FF5B53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24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B2FF"/>
                </a:solidFill>
                <a:latin typeface="Arial"/>
                <a:ea typeface="Arial"/>
                <a:cs typeface="Arial"/>
              </a:rPr>
              <a:t>GROUPED OR HELD-OUT TEST RESULTS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B5A78-DFCE-4ABC-B9B3-C6F92430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0500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F899D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76CE1-D225-4F2A-BB60-08DDD591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9050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F899D"/>
                </a:solidFill>
                <a:latin typeface="Arial"/>
                <a:ea typeface="Arial"/>
                <a:cs typeface="Arial"/>
              </a:rPr>
              <a:t>MACRO 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2FB386-2EBE-4E60-8C69-E57FFADF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050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F899D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4937D-89E5-4E42-BB63-3F2A02D2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9050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F899D"/>
                </a:solidFill>
                <a:latin typeface="Arial"/>
                <a:ea typeface="Arial"/>
                <a:cs typeface="Arial"/>
              </a:rPr>
              <a:t>TEST 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6F6BC4-686B-4646-9F80-1BF3334E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B8066F-CA6B-4DB8-8D31-2007BB3C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717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Code flaw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F9D3B2-617B-419C-974B-039FB677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71725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0B2FF"/>
                </a:solidFill>
                <a:latin typeface="Arial"/>
                <a:ea typeface="Arial"/>
                <a:cs typeface="Arial"/>
              </a:rPr>
              <a:t>0.6904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7CA1B-64F8-474B-97AF-B8BEA0C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717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0.6917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E152AF-8471-4F05-BD39-68170EB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3717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2,413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51812D-580D-4F14-A39F-6DDFB6F6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098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545C70-800F-4331-B36B-DE38EEBA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718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Severity 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310004-8518-4E89-A433-A26F47B2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718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0B2FF"/>
                </a:solidFill>
                <a:latin typeface="Arial"/>
                <a:ea typeface="Arial"/>
                <a:cs typeface="Arial"/>
              </a:rPr>
              <a:t>0.7148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87A8A7-2EBB-4759-A281-537BFBBF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718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0.7537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D718AE-F908-4977-BD29-D55D6490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9718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1,539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168B0F-FB27-44E1-8186-EF89FD71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099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4CD55F-EA21-4A72-A380-1152AF2E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718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Incident type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AD2216-95EB-42D7-8FC3-6964E316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71875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0B2FF"/>
                </a:solidFill>
                <a:latin typeface="Arial"/>
                <a:ea typeface="Arial"/>
                <a:cs typeface="Arial"/>
              </a:rPr>
              <a:t>0.8580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7D7C94-D327-4901-A3B0-F9C7BECE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718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0.8829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685635-FE83-4FFE-AF02-F72D8BD1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57187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2,648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7F0B14-1B57-4DDD-B215-E0675B0F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1002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168FF3-E7E2-47A0-A91F-7BC2773B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95775"/>
            <a:ext cx="5048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Code examples are split by CVE ID to reduce leakage. Scores describe the selected datasets only.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6F67AF-3023-40E2-8D2C-BE4D36A6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5238750" cy="100965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27223E"/>
          </a:solidFill>
          <a:ln xmlns:a="http://schemas.openxmlformats.org/drawingml/2006/main" w="9525">
            <a:solidFill>
              <a:srgbClr val="49407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0DE87F-38F7-47DB-BBA4-3460578E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C0B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0B2FF"/>
                </a:solidFill>
                <a:latin typeface="Arial"/>
                <a:ea typeface="Arial"/>
                <a:cs typeface="Arial"/>
              </a:rPr>
              <a:t>Separate Hugging Face datasets power these task models. Held-out scores describe dataset performance, not real-world detection.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C0B8F0-F1C7-43F4-95E2-C91559EE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C078"/>
                </a:solidFill>
                <a:latin typeface="Arial"/>
                <a:ea typeface="Arial"/>
                <a:cs typeface="Arial"/>
              </a:rPr>
              <a:t>Honeypot attack classification is skipped: its source sample has only one labeled class.</a:t>
            </a:r>
          </a:p>
        </p:txBody>
      </p:sp>
    </p:spTree>
    <p:extLst>
      <p:ext uri="{BB962C8B-B14F-4D97-AF65-F5344CB8AC3E}">
        <p14:creationId xmlns:p14="http://schemas.microsoft.com/office/powerpoint/2010/main" val="11489007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E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DEBA00-48C9-4729-BAB6-BCDB57C9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ADAD6-9254-47B4-99E2-B9E72D56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09  /  TEAM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A3591-66B7-49A7-8F7E-9E4252F4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Collaboration and audit traceability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61913-DC74-4968-9D4B-B3FB99BB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966C2-0A08-4217-8704-29855546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THREATLENS AI  /  TEAM NGB × TEAM NOVA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5F374-8D2E-4FA7-BAF7-9818174C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9F4ED-4F21-49C0-BAFF-EDC4EE49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AUDITABLE EVENT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EB58B-C1FF-492E-BAC1-0E329D69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01  Contribution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E34B2-AD97-4DEB-A516-EDB3D2C8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9A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A94D7-2CBA-4DE0-B43D-EB0DCC50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335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Code • docs • dataset •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17273-D30F-4C50-BF33-6E97670A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145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B2FF"/>
                </a:solidFill>
                <a:latin typeface="Arial"/>
                <a:ea typeface="Arial"/>
                <a:cs typeface="Arial"/>
              </a:rPr>
              <a:t>02  Peer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16700-1081-44F1-8813-35F73B62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622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82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2F9188-0F8B-4E3B-82F7-A18644CC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33650"/>
            <a:ext cx="335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Reviewer • target • rating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386D4-31F6-4F1B-BDE7-6DC2E3FC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145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03  Evaluation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D92C60-C250-4628-9F51-96F692D8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9A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C59E3-032C-40BA-A942-4430E7AF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33650"/>
            <a:ext cx="335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Metric name • value • artifact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ECFA45-EE5A-4769-B82E-75D24AB4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194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562BC-27E9-47E8-A64F-CAE41914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4D19F"/>
                </a:solidFill>
                <a:latin typeface="Arial"/>
                <a:ea typeface="Arial"/>
                <a:cs typeface="Arial"/>
              </a:rPr>
              <a:t>API + SQL ARE READY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5424F8-3F2C-4A61-B0E6-45040C36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GET /api/contributions reads event and evaluation history. POST validates events and requires a server-only write token. The SQL table is append-only by design.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58EF7F-099B-4551-9912-51930AC9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95700"/>
            <a:ext cx="0" cy="2076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1C5EB-AD64-4CC4-A237-2668572D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95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CURRENT ACCOUNT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D1508A-7656-4282-A644-A148405C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0050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Audit table and dedicated writer role are not configured. Production returns no fabricated contribution scores; held-out model results remain available.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6D553-E2A7-4F63-B441-F82D1655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11001375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92418"/>
          </a:solidFill>
          <a:ln xmlns:a="http://schemas.openxmlformats.org/drawingml/2006/main" w="9525">
            <a:solidFill>
              <a:srgbClr val="70412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031A0E-F963-449C-A0BA-FBFCFA6E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86400"/>
            <a:ext cx="10601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CoCo requests failed before analysis with an account service-entitlement message; no CoCo output is claimed.</a:t>
            </a:r>
          </a:p>
        </p:txBody>
      </p:sp>
    </p:spTree>
    <p:extLst>
      <p:ext uri="{BB962C8B-B14F-4D97-AF65-F5344CB8AC3E}">
        <p14:creationId xmlns:p14="http://schemas.microsoft.com/office/powerpoint/2010/main" val="14514705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E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B06AA6-C929-4428-ABF1-21046CE3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E709C-E6C8-4A65-9DC5-2BDA3D93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10  /  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4264D-4CF0-4B3E-8C9D-FF589996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Security, provenance, and safe interpretation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4EEFA-9747-4BA7-9808-BD51BA06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78A02-323A-43D7-B51C-B358FEDB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THREATLENS AI  /  TEAM NGB × TEAM NOVA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67B06-42D2-47FC-95BC-7BADC482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E9459-5FF7-45AA-9467-DD99134C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Read-only application 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B5135-FD74-4F5B-AB70-C4A756EF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514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Web service can query the CVE table; it has no table-write or schema-create grant.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EEE96-9905-435E-A4B0-E6B16F11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90825"/>
            <a:ext cx="506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AFCAC-132C-42BD-AA92-B147E0FF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716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Backend-only secrets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E3C2F-0047-4BE2-91B8-597A4FB6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81200"/>
            <a:ext cx="514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Snowflake key-pair credentials and AI provider keys stay in server-side environment variables.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71CCA-559C-4839-BE86-8F9E57B1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90825"/>
            <a:ext cx="506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4AE6F-E47D-40F2-9028-3ACF5FE6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Bounded queries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B4289-46C6-492F-821C-E4668984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514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Default result cap is 500,000 rows; configured maximum is 1,000,000. Inputs are validated.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EDED2-5D5B-4568-A100-F6A7B9F1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506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ECE5C-F25B-4BAF-94D4-8FAC8979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52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0B2FF"/>
                </a:solidFill>
                <a:latin typeface="Arial"/>
                <a:ea typeface="Arial"/>
                <a:cs typeface="Arial"/>
              </a:rPr>
              <a:t>Cost guardrail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913BEF-E113-42A9-BB9E-0EBFF408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62325"/>
            <a:ext cx="514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X-Small warehouse auto-suspends after 60 seconds; resource monitor caps monthly use at 2 credits.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07E8E3-E773-4218-9B5A-65F5E6E5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71950"/>
            <a:ext cx="506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78DB6C-BD97-4F86-AFB1-76D7BFE1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Source fidelity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24169B-5F20-4E5D-A7BD-657DE285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514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NVD origin is distinct from a Marketplace listing. Missing score and product fields remain missing.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0FF515-3C14-4155-A549-0C1130E7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338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0B2FF"/>
                </a:solidFill>
                <a:latin typeface="Arial"/>
                <a:ea typeface="Arial"/>
                <a:cs typeface="Arial"/>
              </a:rPr>
              <a:t>AI guardrail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F58E8-A59D-48F1-956E-B8CA9D5A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43450"/>
            <a:ext cx="514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External analysis runs only on user request. Cortex failure returns local deterministic analysis.</a:t>
            </a:r>
          </a:p>
        </p:txBody>
      </p:sp>
    </p:spTree>
    <p:extLst>
      <p:ext uri="{BB962C8B-B14F-4D97-AF65-F5344CB8AC3E}">
        <p14:creationId xmlns:p14="http://schemas.microsoft.com/office/powerpoint/2010/main" val="11891841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0E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D1AA9D-EBA1-4815-B89A-37AA701D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FB135-98E5-493F-86D1-5589CD0E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11  / 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A9460-058D-4702-B36D-D905F2C3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Production deployment and project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5C779-0AEF-4BA7-A6A3-D804F127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D6ECF-CA3C-4F6D-9313-621C53D2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THREATLENS AI  /  TEAM NGB × TEAM NOVA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BADEA-BDDC-4C11-B887-6865E1D6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4253E-8FC3-4A21-A858-A5490238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PRODUCTION WEB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C4364-9F39-4BE1-B638-8AE54234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506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threatlens-ai-zoro-b535.vercel.app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6A680-8BAE-49DE-A61D-11BEF4C6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5067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React + Vite frontend</a:t>
            </a:r>
          </a:p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Flask API functions on Vercel</a:t>
            </a:r>
          </a:p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Snowflake source confirmed LIVE</a:t>
            </a:r>
          </a:p>
          <a:p xmlns:a="http://schemas.openxmlformats.org/drawingml/2006/main">
            <a:pPr algn="l">
              <a:defRPr sz="1500" b="0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2ED"/>
                </a:solidFill>
                <a:latin typeface="Arial"/>
                <a:ea typeface="Arial"/>
                <a:cs typeface="Arial"/>
              </a:rPr>
              <a:t>Health, catalog, summary, and contribution APIs return 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716CA-292C-46BF-81DA-357D6AC0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SOURCE REPOSITORY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E08EF-729D-4D5B-AD79-EDFC56DF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62425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0B2FF"/>
                </a:solidFill>
                <a:latin typeface="Arial"/>
                <a:ea typeface="Arial"/>
                <a:cs typeface="Arial"/>
              </a:rPr>
              <a:t>github.com/yogesh-37911/Threat-Lens-Ai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2C9DD-B693-47FF-B23A-F7EC7AD5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50673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Production commit: 2219289</a:t>
            </a:r>
          </a:p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Team NGB × Team Nova open-source project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F8711-F27E-4ADD-AF68-FDB83A3B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571625"/>
            <a:ext cx="0" cy="429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19CC3E-5D05-4896-B776-F344E567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524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4D19F"/>
                </a:solidFill>
                <a:latin typeface="Arial"/>
                <a:ea typeface="Arial"/>
                <a:cs typeface="Arial"/>
              </a:rPr>
              <a:t>VERIFIED QUALITY CHECKS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83A23-9731-437D-9C02-66466EF3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621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21E38-A76B-4610-BD30-211B0916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00977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backend tests passed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3F253-8B0C-4BE5-8010-8BAB71FA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8127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C40C3-6118-446F-8D84-A0D6571C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752725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584A8B-94E9-4C90-9F93-C629D576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800350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frontend tests passed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810564-96DA-40DD-9BB2-839FECEF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718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7EC9B2-8A2E-46AD-AFE7-CD7F20F5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5433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9A3D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6B2DFB-E99E-4181-B2A9-82E40CCD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5909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frontend production build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8E7187-9256-4F72-B6AA-FF4D428B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16242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97D77A-83C5-4A11-AB06-ACD70488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333875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4D19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4D19F"/>
                </a:solidFill>
                <a:latin typeface="Arial"/>
                <a:ea typeface="Arial"/>
                <a:cs typeface="Arial"/>
              </a:rPr>
              <a:t>LIVE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E3ABAA-98F9-46C5-8C00-B03EB47D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381500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632"/>
          </a:bodyPr>
          <a:lstStyle xmlns:a="http://schemas.openxmlformats.org/drawingml/2006/main">
            <a:def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Snowflake data source • 160,846 records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DE89B7-6EA1-48B1-9029-175B3ACC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2959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No production errors were returned in Vercel’s last-30-minute error-log query.</a:t>
            </a:r>
          </a:p>
        </p:txBody>
      </p:sp>
    </p:spTree>
    <p:extLst>
      <p:ext uri="{BB962C8B-B14F-4D97-AF65-F5344CB8AC3E}">
        <p14:creationId xmlns:p14="http://schemas.microsoft.com/office/powerpoint/2010/main" val="17471275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0E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740E00-1D0E-46FD-9122-A8BDCEA1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9BD48-7E26-45E6-8FB1-A3ED605A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12  /  HONEST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5D315-C1CC-4DC3-BD30-C0D6589E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Remaining account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0DA64-B07F-49B5-969E-DB3E172B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642AB-49BA-46A2-B818-C4FD9935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THREATLENS AI  /  TEAM NGB × TEAM NOVA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06A9D-D214-429B-B901-FF4426E8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94082-689B-4E01-817A-BDCD6B4F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430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CoCo entitlement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13572-358F-4F71-B44F-87D32AA9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43050"/>
            <a:ext cx="803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CoCo chat returned a service-entitlement / usage-limit error before producing SQL or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5947E-0558-4FD4-AFEC-F0B7B205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5742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C51DE-636F-42A1-B517-FB419FC6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Cortex generation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187A9-8714-42EE-BEC5-4C8EE31B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9825"/>
            <a:ext cx="803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AI_COMPLETE code is present, but this trial account rejects completion; local fallback is active.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A0A05-1710-48F0-AF5F-BC11765D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242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7AC1F-7134-4A6E-82D2-C75CA3D5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766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Contribution ledger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572D5-3D97-4822-A488-B51896DD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76600"/>
            <a:ext cx="803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Create the audit table and a separate service role with SELECT + INSERT grants.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F179F-39B5-47B7-ADEA-E4F9C136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9097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6F04F-5E1D-4E9B-876E-28B20C8F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Snowflake Streamlit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A84B6-FB12-4E86-843D-075A7F1F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43375"/>
            <a:ext cx="803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Source app is ready; deploy as a Snowflake Streamlit object with suitable schema grants.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FAF48E-4ABB-4BAE-B440-0682533E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C8429-AF5F-435D-AF6D-4A8CFC15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Dataset eligibility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AC36DD-BF1C-4C73-A828-6D9EAEA5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803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NVD data is public and stored in Snowflake, but it is not a Marketplace listing. Confirm the challenge’s eligibility rule.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47A269-83FF-4F13-9F30-1EA47323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067425"/>
            <a:ext cx="1100137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9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398E24-4EEA-4A07-A37B-12694238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0715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No CoCo use, Cortex output, Marketplace installation, or audit score is represented as complete.</a:t>
            </a:r>
          </a:p>
        </p:txBody>
      </p:sp>
    </p:spTree>
    <p:extLst>
      <p:ext uri="{BB962C8B-B14F-4D97-AF65-F5344CB8AC3E}">
        <p14:creationId xmlns:p14="http://schemas.microsoft.com/office/powerpoint/2010/main" val="1111675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0E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049DEE-2379-419F-88D6-E1E50A5C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5D79E-B38B-4DC2-8549-F349EFCB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13  /  PRESENTATION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888E7-BB87-457F-9272-5FF2BF09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Live demo walkthrough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8BB98-F40E-4DEE-BFA1-264CA34A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D4D19-B353-4F4C-BD0B-03158FBD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THREATLENS AI  /  TEAM NGB × TEAM NOVA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17D7E-68E5-4AB6-A47E-6D85C88E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FC4E0-D72E-4754-80FD-1F843020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9A3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BDDC0-0EF1-40A8-AC78-BC9DB44D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5811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Start at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B02DB-3DA1-49C6-81B9-15BFD021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81150"/>
            <a:ext cx="693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Show LIVE source badge and 160,846 active records.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36DC2-22B3-4794-800B-2D11BA10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171700"/>
            <a:ext cx="9915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95BA2-2BC0-435E-939F-3E553369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9A82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909A8-D741-4CA1-9A9C-CD279DB2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4193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Open the Explorer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DD586-BE4E-489C-86FD-7FF1FA5C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19350"/>
            <a:ext cx="693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Filter by severity, dates, CVSS, or CWE; open the source record.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49FD1-73DC-49D9-B536-47A18458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009900"/>
            <a:ext cx="9915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60049-C72D-4461-A985-0D9A419F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9A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826B5-C1EC-42FE-A787-4E62AE9A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257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Explain the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E1233-942B-407B-B6C8-33ED646D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57550"/>
            <a:ext cx="693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Separate NVD CVSS from ThreatLens’ local recency heuristic.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7240CC-26D7-4954-B0FF-EAE92D4C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848100"/>
            <a:ext cx="9915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7D1547-1D19-404C-90B9-B30301DF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9A82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9A82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36C281-D8F4-4DE0-8598-F3384553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095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Review ML results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50B68-C36F-48EA-B44D-2CDCD8D6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693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Show held-out task metrics and explain dataset limits.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E98CFC-7F91-4486-8CF4-F12762AC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686300"/>
            <a:ext cx="9915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DCA79B-F4BD-4509-AE6A-63B52D5C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F9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9A3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A62B62-746F-48E3-B3C7-48CC24A9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9339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Close with account truth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ABA59F-BCE2-4F9D-ABB0-A174CFF6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33950"/>
            <a:ext cx="693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State CoCo, Cortex, audit, and Marketplace eligibility gates clearly.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7A606D-6B63-42C2-89F1-015DB839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857875"/>
            <a:ext cx="109918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51B28"/>
          </a:solidFill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DF95E3-62AB-441C-8F9D-A1CE67BA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905500"/>
            <a:ext cx="1064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Demo order: live data → evidence-backed CVE → explainable analytics → measured limits</a:t>
            </a:r>
          </a:p>
        </p:txBody>
      </p:sp>
    </p:spTree>
    <p:extLst>
      <p:ext uri="{BB962C8B-B14F-4D97-AF65-F5344CB8AC3E}">
        <p14:creationId xmlns:p14="http://schemas.microsoft.com/office/powerpoint/2010/main" val="21372751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0E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0A906F-720C-4F5C-A951-1052C2D1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B3AD6-4B0B-4CA2-AE0F-C3F1B07F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TEAM NGB × TEAM NOVA ECOSYSTEM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CEEFC-9D88-4394-8E54-25D9B253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ThreatLens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D0BB0-215D-49A8-AA4B-49B762BB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552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C0B2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0B2FF"/>
                </a:solidFill>
                <a:latin typeface="Arial"/>
                <a:ea typeface="Arial"/>
                <a:cs typeface="Arial"/>
              </a:rPr>
              <a:t>Snowflake-powered CVE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6141E-1BA0-4332-90CD-E4EFCB42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43200"/>
            <a:ext cx="5276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Thank you</a:t>
            </a:r>
          </a:p>
          <a:p xmlns:a="http://schemas.openxmlformats.org/drawingml/2006/main">
            <a:pPr algn="l">
              <a:defRPr sz="2400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Questions and feedback welcome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7DE7B-20F1-4181-953E-8D4411D7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3865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Live app</a:t>
            </a:r>
          </a:p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threatlens-ai-zoro-b535.vercel.app</a:t>
            </a:r>
          </a:p>
          <a:p xmlns:a="http://schemas.openxmlformats.org/drawingml/2006/main">
            <a:pPr algn="l">
              <a:defRPr sz="1500" b="0">
                <a:solidFill>
                  <a:srgbClr val="A8B0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0C1"/>
                </a:solidFill>
                <a:latin typeface="Arial"/>
                <a:ea typeface="Arial"/>
                <a:cs typeface="Arial"/>
              </a:rPr>
              <a:t>GitHub: yogesh-37911/Threat-Lens-Ai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42E5C-3299-499C-92BA-A03C78D8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095375"/>
            <a:ext cx="0" cy="481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148A6-FF39-420F-ACEE-1B58897F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162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PROJECT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72D0B-6AF5-4659-8B48-6BF52EE4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28775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NVD CVE API 2.0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204E5-2DEC-40A0-9613-F7160A57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85950"/>
            <a:ext cx="434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nvd.nist.gov/developers/vulnerabilities-2.0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F1DB3-75EB-4ED1-BCB9-C2DA6B0E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19325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Dataset and eligibility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C3C6A-8AEF-4BC0-A646-A2670BA2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76500"/>
            <a:ext cx="434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docs/dataset.md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F903F-A6BF-4B9A-A36E-2AC8BB42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09875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Architecture and account 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97DAB-A9B2-43BA-9DCE-4E987D3B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67050"/>
            <a:ext cx="434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docs/architecture.md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99D69-257A-46CB-8948-B35B49C2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400425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Methodology and ML limits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7BF20-75A5-4C3A-B626-EF3EB1C1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57600"/>
            <a:ext cx="434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docs/methodology.md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6202F-B7ED-4935-A5CB-AC4CA013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90975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CoCo request 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41B2B-329A-41B5-AE8C-F074FD00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48150"/>
            <a:ext cx="434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docs/coco-workflow.md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07515-49CD-4B21-AC6D-881CE1A6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581525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2E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2ED"/>
                </a:solidFill>
                <a:latin typeface="Arial"/>
                <a:ea typeface="Arial"/>
                <a:cs typeface="Arial"/>
              </a:rPr>
              <a:t>Snowflake connection and verification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766D31-D815-4A6B-9601-485F5E2E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38700"/>
            <a:ext cx="434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snowflake/setup.md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2D782E-787F-4F81-95D6-01C921F1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1020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9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CE2DBD-17EE-4FD1-899B-25A8BDDA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F899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F899D"/>
                </a:solidFill>
                <a:latin typeface="Arial"/>
                <a:ea typeface="Arial"/>
                <a:cs typeface="Arial"/>
              </a:rPr>
              <a:t>HACKTOBER 2026  •  CHALLENGE 02  •  HALLOWEEN ARCHITECTURE EDITION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803ACA-CD4E-49D3-A72F-B668FE24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FC0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07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4617319"/>
      </p:ext>
    </p:extLst>
  </p:cSld>
</p:sld>
</file>

<file path=ppt/theme/theme1.xml><?xml version="1.0" encoding="utf-8"?>
<a:theme xmlns:a="http://schemas.openxmlformats.org/drawingml/2006/main" name="ChatGPT">
  <a:themeElements>
    <a:clrScheme name="ThreatLens Halloween">
      <a:dk1>
        <a:srgbClr val="000000"/>
      </a:dk1>
      <a:lt1>
        <a:srgbClr val="FFFFFF"/>
      </a:lt1>
      <a:dk2>
        <a:srgbClr val="111622"/>
      </a:dk2>
      <a:lt2>
        <a:srgbClr val="E7E6E3"/>
      </a:lt2>
      <a:accent1>
        <a:srgbClr val="FF9A3D"/>
      </a:accent1>
      <a:accent2>
        <a:srgbClr val="9A82FF"/>
      </a:accent2>
      <a:accent3>
        <a:srgbClr val="44D19F"/>
      </a:accent3>
      <a:accent4>
        <a:srgbClr val="FF7979"/>
      </a:accent4>
      <a:accent5>
        <a:srgbClr val="FFD477"/>
      </a:accent5>
      <a:accent6>
        <a:srgbClr val="54B5E5"/>
      </a:accent6>
      <a:hlink>
        <a:srgbClr val="85B9FF"/>
      </a:hlink>
      <a:folHlink>
        <a:srgbClr val="9A82FF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ThreatLens Hallowee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2026-10-25T14:41:28.4530000Z</dcterms:created>
  <dcterms:modified xsi:type="dcterms:W3CDTF">2026-10-25T14:41:28.4530000Z</dcterms:modified>
</coreProperties>
</file>